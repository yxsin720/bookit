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0" b="1" i="0">
                <a:solidFill>
                  <a:srgbClr val="C8501E"/>
                </a:solidFill>
                <a:latin typeface="Carlito"/>
              </a:rPr>
              <a:t>BookIT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2B2622"/>
                </a:solidFill>
                <a:latin typeface="Carlito"/>
              </a:rPr>
              <a:t>Sistema distribuído de reservas com recomendação inteligente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7A6F64"/>
                </a:solidFill>
                <a:latin typeface="Carlito"/>
              </a:rPr>
              <a:t>Projeto de Desenvolvimento de Software · Grupo 6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7A6F64"/>
                </a:solidFill>
                <a:latin typeface="Carlito"/>
              </a:rPr>
              <a:t>Yassin Latif, Yosvany Costa Nunes, Francisco Silva, Lueji Covilhã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7A6F64"/>
                </a:solidFill>
                <a:latin typeface="Carlito"/>
              </a:rPr>
              <a:t>Universidade Europeia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963137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400"/>
              </a:spcAft>
            </a:pPr>
            <a:r>
              <a:rPr sz="2800" b="0" i="0">
                <a:solidFill>
                  <a:srgbClr val="2B2622"/>
                </a:solidFill>
                <a:latin typeface="Carlito"/>
              </a:rPr>
              <a:t>Reservar salas, equipamentos e lugares de estudo exige muita tentativa e erro.</a:t>
            </a:r>
          </a:p>
          <a:p>
            <a:pPr algn="l">
              <a:spcAft>
                <a:spcPts val="2400"/>
              </a:spcAft>
            </a:pPr>
            <a:r>
              <a:rPr sz="2800" b="0" i="0">
                <a:solidFill>
                  <a:srgbClr val="2B2622"/>
                </a:solidFill>
                <a:latin typeface="Carlito"/>
              </a:rPr>
              <a:t>As plataformas só mostram o que está livre. Quem escolhe a melhor combinação de recurso, dia e hora é o utilizador.</a:t>
            </a:r>
          </a:p>
          <a:p>
            <a:pPr algn="l">
              <a:spcAft>
                <a:spcPts val="2400"/>
              </a:spcAft>
            </a:pPr>
            <a:r>
              <a:rPr sz="2800" b="0" i="0">
                <a:solidFill>
                  <a:srgbClr val="2B2622"/>
                </a:solidFill>
                <a:latin typeface="Carlito"/>
              </a:rPr>
              <a:t>Quando algo avaria, as reservas afetadas reorganizam-se à mão.</a:t>
            </a:r>
          </a:p>
          <a:p>
            <a:pPr algn="l">
              <a:spcAft>
                <a:spcPts val="2400"/>
              </a:spcAft>
            </a:pPr>
            <a:r>
              <a:rPr sz="2800" b="0" i="0">
                <a:solidFill>
                  <a:srgbClr val="2B2622"/>
                </a:solidFill>
                <a:latin typeface="Carlito"/>
              </a:rPr>
              <a:t>E tudo isto com muita gente ao mesmo tempo, sem poder ficar em baixo.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Como funciona o sistema de reservas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783080" cy="1005840"/>
          </a:xfrm>
          <a:prstGeom prst="rect">
            <a:avLst/>
          </a:prstGeom>
          <a:solidFill>
            <a:srgbClr val="F7F2E9"/>
          </a:solidFill>
          <a:ln w="15875">
            <a:solidFill>
              <a:srgbClr val="2B2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Aplicação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2423160"/>
            <a:ext cx="308610" cy="0"/>
          </a:xfrm>
          <a:prstGeom prst="line">
            <a:avLst/>
          </a:prstGeom>
          <a:ln w="19050">
            <a:solidFill>
              <a:srgbClr val="2B26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006090" y="1920240"/>
            <a:ext cx="1783080" cy="1005840"/>
          </a:xfrm>
          <a:prstGeom prst="rect">
            <a:avLst/>
          </a:prstGeom>
          <a:solidFill>
            <a:srgbClr val="F7F2E9"/>
          </a:solidFill>
          <a:ln w="15875">
            <a:solidFill>
              <a:srgbClr val="2B2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Balanceador</a:t>
            </a:r>
          </a:p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de carga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34890" y="2423160"/>
            <a:ext cx="308610" cy="0"/>
          </a:xfrm>
          <a:prstGeom prst="line">
            <a:avLst/>
          </a:prstGeom>
          <a:ln w="19050">
            <a:solidFill>
              <a:srgbClr val="2B26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189220" y="1920240"/>
            <a:ext cx="1783080" cy="1005840"/>
          </a:xfrm>
          <a:prstGeom prst="rect">
            <a:avLst/>
          </a:prstGeom>
          <a:solidFill>
            <a:srgbClr val="F7F2E9"/>
          </a:solidFill>
          <a:ln w="15875">
            <a:solidFill>
              <a:srgbClr val="2B2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Serviço de reservas</a:t>
            </a:r>
          </a:p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(várias instâncias)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18020" y="2423160"/>
            <a:ext cx="308609" cy="0"/>
          </a:xfrm>
          <a:prstGeom prst="line">
            <a:avLst/>
          </a:prstGeom>
          <a:ln w="19050">
            <a:solidFill>
              <a:srgbClr val="2B26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372350" y="1920240"/>
            <a:ext cx="1783080" cy="1005840"/>
          </a:xfrm>
          <a:prstGeom prst="rect">
            <a:avLst/>
          </a:prstGeom>
          <a:solidFill>
            <a:srgbClr val="C8501E"/>
          </a:solidFill>
          <a:ln w="15875">
            <a:solidFill>
              <a:srgbClr val="2B2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rlito"/>
              </a:rPr>
              <a:t>Serviço de 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01150" y="2423160"/>
            <a:ext cx="308609" cy="0"/>
          </a:xfrm>
          <a:prstGeom prst="line">
            <a:avLst/>
          </a:prstGeom>
          <a:ln w="19050">
            <a:solidFill>
              <a:srgbClr val="2B26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555480" y="1920240"/>
            <a:ext cx="1783080" cy="1005840"/>
          </a:xfrm>
          <a:prstGeom prst="rect">
            <a:avLst/>
          </a:prstGeom>
          <a:solidFill>
            <a:srgbClr val="F7F2E9"/>
          </a:solidFill>
          <a:ln w="15875">
            <a:solidFill>
              <a:srgbClr val="2B2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Base de dados</a:t>
            </a:r>
          </a:p>
          <a:p>
            <a:pPr algn="ctr"/>
            <a:r>
              <a:rPr sz="1700" b="1">
                <a:solidFill>
                  <a:srgbClr val="2B2622"/>
                </a:solidFill>
                <a:latin typeface="Carlito"/>
              </a:rPr>
              <a:t>replicada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54577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1. O utilizador pede, por exemplo, uma sala para 6 pessoas, 2 horas, com projetor.</a:t>
            </a:r>
          </a:p>
          <a:p>
            <a:pPr algn="l">
              <a:spcAft>
                <a:spcPts val="140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2. A IA devolve as 3 a 5 melhores opções.</a:t>
            </a:r>
          </a:p>
          <a:p>
            <a:pPr algn="l">
              <a:spcAft>
                <a:spcPts val="140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3. O utilizador escolhe uma e confirma.</a:t>
            </a:r>
          </a:p>
          <a:p>
            <a:pPr algn="l">
              <a:spcAft>
                <a:spcPts val="140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4. A base de dados grava a reserva. Se alguém ficou com a sala entretanto, recusa e a IA recalcula.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Requisitos funcionais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8501E"/>
                </a:solidFill>
                <a:latin typeface="Carlito"/>
              </a:rPr>
              <a:t>Utilizador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271418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Fazer login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Pesquisar a disponibilidade de recursos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Pedir recomendação de recurso e horário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Criar e cancelar reservas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Consultar as suas reservas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0138" y="19202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8501E"/>
                </a:solidFill>
                <a:latin typeface="Carlito"/>
              </a:rPr>
              <a:t>Gestor de 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2560320"/>
            <a:ext cx="3271418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Gerir recursos e equipamentos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Marcar um recurso como indisponível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Reatribuir as reservas afetadas, com ajuda da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7316" y="19202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8501E"/>
                </a:solidFill>
                <a:latin typeface="Carlito"/>
              </a:rPr>
              <a:t>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7316" y="2560320"/>
            <a:ext cx="3271418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Gerir utilizadores e permissões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Consultar todas as reservas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Requisitos não funcionais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7A6F64"/>
                </a:solidFill>
                <a:latin typeface="Carlito"/>
              </a:rPr>
              <a:t>Não dizem o que o sistema faz, mas como se tem de comportar.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501E"/>
                </a:solidFill>
                <a:latin typeface="Carlito"/>
              </a:rPr>
              <a:t>Consistência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40280"/>
            <a:ext cx="752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Duas pessoas nunca ficam com a mesma sala à mesma hora.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53512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501E"/>
                </a:solidFill>
                <a:latin typeface="Carlito"/>
              </a:rPr>
              <a:t>Disponibilidade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953512"/>
            <a:ext cx="752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O sistema continua a funcionar se uma parte falhar.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66744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501E"/>
                </a:solidFill>
                <a:latin typeface="Carlito"/>
              </a:rPr>
              <a:t>Durabilidade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666744"/>
            <a:ext cx="752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Uma reserva confirmada não se perde se a base de dados falhar.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79976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501E"/>
                </a:solidFill>
                <a:latin typeface="Carlito"/>
              </a:rPr>
              <a:t>Desempenho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379976"/>
            <a:ext cx="752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A recomendação aparece em 2 segundos ou menos.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93208"/>
            <a:ext cx="28346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501E"/>
                </a:solidFill>
                <a:latin typeface="Carlito"/>
              </a:rPr>
              <a:t>Segurança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093208"/>
            <a:ext cx="752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B2622"/>
                </a:solidFill>
                <a:latin typeface="Carlito"/>
              </a:rPr>
              <a:t>Só entra quem fez login e cada perfil só faz o que lhe é permitido.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7A6F64"/>
                </a:solidFill>
                <a:latin typeface="Carlito"/>
              </a:rPr>
              <a:t>Metas iniciais, a ajustar com medições.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Arquitetura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Balanceador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011680"/>
            <a:ext cx="68881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B2622"/>
                </a:solidFill>
                <a:latin typeface="Carlito"/>
              </a:rPr>
              <a:t>Nginx, que distribui os pedidos pelas instâncias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API de reservas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761488"/>
            <a:ext cx="68881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B2622"/>
                </a:solidFill>
                <a:latin typeface="Carlito"/>
              </a:rPr>
              <a:t>2 ou mais instâncias, sem 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11296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Serviço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511296"/>
            <a:ext cx="68881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B2622"/>
                </a:solidFill>
                <a:latin typeface="Carlito"/>
              </a:rPr>
              <a:t>2 instâncias, sem 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61104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Base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261104"/>
            <a:ext cx="68881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B2622"/>
                </a:solidFill>
                <a:latin typeface="Carlito"/>
              </a:rPr>
              <a:t>PostgreSQL com 1 primário e 1 réplica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10912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Execução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010912"/>
            <a:ext cx="68881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B2622"/>
                </a:solidFill>
                <a:latin typeface="Carlito"/>
              </a:rPr>
              <a:t>Tudo em contentores Docker, com Docker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1">
                <a:solidFill>
                  <a:srgbClr val="7A6F64"/>
                </a:solidFill>
                <a:latin typeface="Carlito"/>
              </a:rPr>
              <a:t>A IA só sugere. Quem confirma a reserva é a base de dados, numa transação, e recusa reservas sobrepostas.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Stack tecnológica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920240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React (aplicação 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23744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523744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Python com FastAPI (API de reservas e serviço de 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27248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127248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Motor CSP em Python, feito por nós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075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Base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730752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PostgreSQL, com 1 primário e 1 réplica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34256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Balanceador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34256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Execução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937760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Docker e Docker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41264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Código e tarefas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541264"/>
            <a:ext cx="688817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7A6F64"/>
                </a:solidFill>
                <a:latin typeface="Carlito"/>
              </a:rPr>
              <a:t>Proposta, a validar com os docentes.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A IA: satisfação de restrições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Tem de respeitar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490712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Sem sobreposição de reservas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Capacidade suficiente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Equipamento necessário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Horário de funcionamento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Permissões do utilizador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607" y="1920240"/>
            <a:ext cx="4907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501E"/>
                </a:solidFill>
                <a:latin typeface="Carlito"/>
              </a:rPr>
              <a:t>Tenta melhorar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2560320"/>
            <a:ext cx="490712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Preferências de local e hora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Menos desperdício de capacidade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Uso equilibrado dos recursos</a:t>
            </a:r>
          </a:p>
          <a:p>
            <a:pPr algn="l">
              <a:spcAft>
                <a:spcPts val="1200"/>
              </a:spcAft>
            </a:pPr>
            <a:r>
              <a:rPr sz="2400" b="0" i="0">
                <a:solidFill>
                  <a:srgbClr val="2B2622"/>
                </a:solidFill>
                <a:latin typeface="Carlito"/>
              </a:rPr>
              <a:t>Calendário pouco fragmentado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1">
                <a:solidFill>
                  <a:srgbClr val="7A6F64"/>
                </a:solidFill>
                <a:latin typeface="Carlito"/>
              </a:rPr>
              <a:t>Resolução: backtracking com forward checking, MRV, AC-3 e branch and bound, para devolver as k melhores soluções.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Possíveis falhas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Instância da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828800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O Nginx envia os pedidos para as outras instâncias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Instância da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487168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Usa-se a outra; sem IA, o primeiro horário livre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Primário da base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145536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A réplica tem uma cópia e é promovida a primário à mão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0390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Réplica da base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803904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O primário continua; é preciso ajustar a replicação à mão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62272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Rede API e base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462272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Erro controlado e nova tentativa, sem duplicados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Recurso indisponível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120640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A IA reatribui só as reservas afetadas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79008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501E"/>
                </a:solidFill>
                <a:latin typeface="Carlito"/>
              </a:rPr>
              <a:t>Balanceador (Nginx)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779008"/>
            <a:ext cx="6522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B2622"/>
                </a:solidFill>
                <a:latin typeface="Carlito"/>
              </a:rPr>
              <a:t>Limitação conhecida: só há um, por isso o sistema pára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B2622"/>
                </a:solidFill>
                <a:latin typeface="Carlito"/>
              </a:rPr>
              <a:t>Como vamos testar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C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Reservas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920240"/>
            <a:ext cx="82597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Enviar muitos pedidos ao mesmo tempo para a mesma sala e confirmar que só um é aceite, sem duplicados.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Falhas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063240"/>
            <a:ext cx="82597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Desligar uma instância da API ou da IA e confirmar que o sistema continua a responder.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8501E"/>
                </a:solidFill>
                <a:latin typeface="Carlito"/>
              </a:rPr>
              <a:t>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206240"/>
            <a:ext cx="82597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B2622"/>
                </a:solidFill>
                <a:latin typeface="Carlito"/>
              </a:rPr>
              <a:t>Comparar o motor CSP com o primeiro horário livre, medindo utilização das salas, desperdício de capacidade e tempo de resposta.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C8501E"/>
                </a:solidFill>
                <a:latin typeface="Carlito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